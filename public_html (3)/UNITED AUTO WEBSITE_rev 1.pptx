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4" r:id="rId2"/>
    <p:sldId id="265" r:id="rId3"/>
    <p:sldId id="26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97115F-7F5C-40C5-833C-6593406B761F}" type="datetimeFigureOut">
              <a:rPr lang="en-US" smtClean="0"/>
              <a:t>18-Jul-25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C147BE-9C4B-4C54-86A4-FA338693D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74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DFB35-1EEF-40F5-9F8B-C6F7B4B0898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572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06C5E-8A8D-DA95-13A2-D0FFDE7F95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0012B0-8DD7-CB43-AED0-B15C1DDA11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D77AF-5E57-E10C-BFB5-6CE87B7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AB62-0413-4913-BEE0-B84C3A1510AE}" type="datetimeFigureOut">
              <a:rPr lang="en-US" smtClean="0"/>
              <a:t>18-Jul-25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A89F8-A79F-CF04-5A54-E5150DC45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72B04-7096-11C1-3EA0-512F3CA9B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DE754-8910-4454-964B-F9CE3BCC5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472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1C6B2-FEC4-D2EA-632D-DD3E44666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BBD8A-0383-2B33-4362-311684C83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77972-0F6D-1B13-AADF-324358C36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AB62-0413-4913-BEE0-B84C3A1510AE}" type="datetimeFigureOut">
              <a:rPr lang="en-US" smtClean="0"/>
              <a:t>18-Jul-25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D3413-A5FC-1AD2-B020-4AC113630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336C5-8317-8289-FD80-2DC15AFE9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DE754-8910-4454-964B-F9CE3BCC5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25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33D5F-C321-8D17-3250-AB9CCD538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438B1E-33FD-0C50-DA63-2DAE99438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4040E-017F-E41D-EB19-D4FB869DE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AB62-0413-4913-BEE0-B84C3A1510AE}" type="datetimeFigureOut">
              <a:rPr lang="en-US" smtClean="0"/>
              <a:t>18-Jul-25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3DE073-89DE-0CEE-8C35-00C47B9E2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8884D-592C-D150-A446-79928449C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DE754-8910-4454-964B-F9CE3BCC5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104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46051-A031-96C8-D580-D6F1CBDE5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FDE91-54DA-1CD8-544E-1931427D18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FF2E63-AECE-041D-2AE4-81832F6382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D9CF14-C5B2-5745-141B-7786BA248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AB62-0413-4913-BEE0-B84C3A1510AE}" type="datetimeFigureOut">
              <a:rPr lang="en-US" smtClean="0"/>
              <a:t>18-Jul-25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F58479-4173-B426-8D20-B8867D4D6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626DCF-754E-E392-5325-E0228197D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DE754-8910-4454-964B-F9CE3BCC5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123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61AEB-9DF9-601B-FC86-9CE4C9531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E659F-DC16-1CE4-E233-F86BAE94C4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AAF7C2-4D4F-DFF5-7489-C189EC5C2D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FBA286-A20A-0337-B89E-0291F01F97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863705-E652-16C5-083C-58A8E3D622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B1233C-E4BD-B3F6-D1A6-0920818FC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AB62-0413-4913-BEE0-B84C3A1510AE}" type="datetimeFigureOut">
              <a:rPr lang="en-US" smtClean="0"/>
              <a:t>18-Jul-25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D28DFB-A031-45EE-FE5F-F44E6C6A8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154512-2CA3-7821-1C31-81EF7CDD6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DE754-8910-4454-964B-F9CE3BCC5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827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26897-F3DF-A2E0-5159-B94BFFBD4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33E067-7E97-C92C-D278-994672F4D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AB62-0413-4913-BEE0-B84C3A1510AE}" type="datetimeFigureOut">
              <a:rPr lang="en-US" smtClean="0"/>
              <a:t>18-Jul-25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0A41B8-ADB5-A2F1-1C92-FE5D7EC0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0E6518-0A50-4425-004C-64F892A19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DE754-8910-4454-964B-F9CE3BCC5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581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B4E9C-6FCD-4D35-D140-802E0D630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AB62-0413-4913-BEE0-B84C3A1510AE}" type="datetimeFigureOut">
              <a:rPr lang="en-US" smtClean="0"/>
              <a:t>18-Jul-25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0154CF-74EF-224D-63AA-8A816485D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B7076A-8A46-286F-B088-3A070AE47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DE754-8910-4454-964B-F9CE3BCC5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537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B41D8-EEF2-7A67-A24C-DB4865432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DFD15-CA0E-EEE7-0387-A87FF7462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1CB9E9-CD01-029A-8BB7-26E138EAD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23BE9-EB8F-1C48-7E02-8588EC003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AB62-0413-4913-BEE0-B84C3A1510AE}" type="datetimeFigureOut">
              <a:rPr lang="en-US" smtClean="0"/>
              <a:t>18-Jul-25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C012F6-999B-4F99-E776-86D371A07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8307E2-F86B-EC39-0EF4-85979F654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DE754-8910-4454-964B-F9CE3BCC5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165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6DAD3-4C23-7526-6BD1-4F7515E1D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2D128C-7A8D-D980-9DBB-7ACF1AA706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78D5F3-14D4-A2A3-C5C0-9B0EAF4D74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D560AA-4763-E061-556B-79EF68187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AB62-0413-4913-BEE0-B84C3A1510AE}" type="datetimeFigureOut">
              <a:rPr lang="en-US" smtClean="0"/>
              <a:t>18-Jul-25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C40E71-1E46-CD5E-700B-3D37068DC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97C71D-24AF-D435-7C06-A2A6BE421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DE754-8910-4454-964B-F9CE3BCC5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492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8D983-B647-9E58-4155-6AF8D1A6D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C0CC42-A4F9-52FC-397C-893B62A7BD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E6FC5-27E8-B0B2-B545-FF7D4B191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AB62-0413-4913-BEE0-B84C3A1510AE}" type="datetimeFigureOut">
              <a:rPr lang="en-US" smtClean="0"/>
              <a:t>18-Jul-25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2840A-D113-EE0A-5AFD-22EF8E379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52D41-EE30-7D0B-47E2-11E50AFAF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DE754-8910-4454-964B-F9CE3BCC5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689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2E70FF-DE26-C564-4655-1773D42FC1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85713B-3CDB-F897-6ECA-F3FF42A9C8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53FAF-7447-A93A-2A20-D6CCCD0F3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AB62-0413-4913-BEE0-B84C3A1510AE}" type="datetimeFigureOut">
              <a:rPr lang="en-US" smtClean="0"/>
              <a:t>18-Jul-25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2E1E83-D1EE-1C16-2926-956BE5E0A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DA428-C76C-63BC-E9EA-C16E6BE08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DE754-8910-4454-964B-F9CE3BCC5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983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4B18F8-D6A4-39E2-CE24-FD9DEAFE7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84181-D13D-7172-517B-5A94F04A0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57F2E7-34D1-18E4-C997-DEBE9664B2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6AAB62-0413-4913-BEE0-B84C3A1510AE}" type="datetimeFigureOut">
              <a:rPr lang="en-US" smtClean="0"/>
              <a:t>18-Jul-25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DD6CB-CE52-FFF7-81DD-F56A470362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55DC1-96BF-BE8C-ACB2-3D4FF9B4B1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DDE754-8910-4454-964B-F9CE3BCC5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473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A7C8916-BECE-D6AE-7360-7421B9801476}"/>
              </a:ext>
            </a:extLst>
          </p:cNvPr>
          <p:cNvSpPr txBox="1"/>
          <p:nvPr/>
        </p:nvSpPr>
        <p:spPr>
          <a:xfrm>
            <a:off x="1109273" y="912500"/>
            <a:ext cx="3215680" cy="4188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Serviceable Brand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  <a:p>
            <a:pPr marL="342900" marR="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MARUTI</a:t>
            </a:r>
          </a:p>
          <a:p>
            <a:pPr marL="342900" marR="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HYUNDAI</a:t>
            </a:r>
          </a:p>
          <a:p>
            <a:pPr marL="342900" marR="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TATA MOTORS</a:t>
            </a:r>
          </a:p>
          <a:p>
            <a:pPr marL="342900" marR="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MAHINDRA</a:t>
            </a:r>
          </a:p>
          <a:p>
            <a:pPr marL="342900" marR="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TOYOTA</a:t>
            </a:r>
          </a:p>
          <a:p>
            <a:pPr marL="342900" marR="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Ford</a:t>
            </a:r>
          </a:p>
          <a:p>
            <a:pPr marL="342900" marR="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Fiat</a:t>
            </a:r>
          </a:p>
          <a:p>
            <a:pPr marL="342900" marR="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Jeep</a:t>
            </a:r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7DF25C-D9D6-8189-D265-0E3EA497096C}"/>
              </a:ext>
            </a:extLst>
          </p:cNvPr>
          <p:cNvSpPr/>
          <p:nvPr/>
        </p:nvSpPr>
        <p:spPr>
          <a:xfrm>
            <a:off x="3200400" y="167951"/>
            <a:ext cx="5267739" cy="744549"/>
          </a:xfrm>
          <a:prstGeom prst="rect">
            <a:avLst/>
          </a:prstGeom>
          <a:ln w="38100">
            <a:solidFill>
              <a:srgbClr val="00206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Serviceable Brand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6317B1-CBD6-997B-59F7-5CBF38C7B251}"/>
              </a:ext>
            </a:extLst>
          </p:cNvPr>
          <p:cNvSpPr txBox="1"/>
          <p:nvPr/>
        </p:nvSpPr>
        <p:spPr>
          <a:xfrm>
            <a:off x="5795944" y="911301"/>
            <a:ext cx="3685986" cy="5034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Serviceable Brand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  <a:p>
            <a:pPr marL="342900" marR="0" lvl="0" indent="-342900">
              <a:lnSpc>
                <a:spcPct val="115000"/>
              </a:lnSpc>
              <a:buAutoNum type="arabicPeriod" startAt="9"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Chevrolet </a:t>
            </a:r>
            <a:endParaRPr lang="en-US" sz="2400" kern="100" dirty="0"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  <a:p>
            <a:pPr marL="342900" marR="0" lvl="0" indent="-342900">
              <a:lnSpc>
                <a:spcPct val="115000"/>
              </a:lnSpc>
              <a:buAutoNum type="arabicPeriod" startAt="9"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Honda</a:t>
            </a:r>
            <a:endParaRPr lang="en-US" sz="2400" kern="100" dirty="0"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  <a:p>
            <a:pPr marL="342900" marR="0" lvl="0" indent="-342900">
              <a:lnSpc>
                <a:spcPct val="115000"/>
              </a:lnSpc>
              <a:buAutoNum type="arabicPeriod" startAt="9"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Skoda </a:t>
            </a:r>
            <a:endParaRPr lang="en-US" sz="2400" kern="100" dirty="0"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  <a:p>
            <a:pPr marL="342900" marR="0" lvl="0" indent="-342900">
              <a:lnSpc>
                <a:spcPct val="115000"/>
              </a:lnSpc>
              <a:buAutoNum type="arabicPeriod" startAt="9"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VW</a:t>
            </a:r>
            <a:endParaRPr lang="en-US" sz="2400" kern="100" dirty="0"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  <a:p>
            <a:pPr marL="342900" marR="0" lvl="0" indent="-342900">
              <a:lnSpc>
                <a:spcPct val="115000"/>
              </a:lnSpc>
              <a:buAutoNum type="arabicPeriod" startAt="9"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Renault </a:t>
            </a:r>
            <a:endParaRPr lang="en-US" sz="2400" kern="100" dirty="0"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  <a:p>
            <a:pPr marL="342900" marR="0" lvl="0" indent="-342900">
              <a:lnSpc>
                <a:spcPct val="115000"/>
              </a:lnSpc>
              <a:buAutoNum type="arabicPeriod" startAt="9"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Marcedes </a:t>
            </a:r>
            <a:endParaRPr lang="en-US" sz="2400" kern="100" dirty="0"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  <a:p>
            <a:pPr marL="342900" marR="0" lvl="0" indent="-342900">
              <a:lnSpc>
                <a:spcPct val="115000"/>
              </a:lnSpc>
              <a:buAutoNum type="arabicPeriod" startAt="9"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Audi</a:t>
            </a:r>
            <a:endParaRPr lang="en-US" sz="2400" kern="100" dirty="0"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  <a:p>
            <a:pPr marL="342900" marR="0" lvl="0" indent="-342900">
              <a:lnSpc>
                <a:spcPct val="115000"/>
              </a:lnSpc>
              <a:buAutoNum type="arabicPeriod" startAt="9"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BMW</a:t>
            </a:r>
            <a:endParaRPr lang="en-US" sz="2400" kern="100" dirty="0"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  <a:p>
            <a:pPr marL="342900" marR="0" lvl="0" indent="-342900">
              <a:lnSpc>
                <a:spcPct val="115000"/>
              </a:lnSpc>
              <a:buAutoNum type="arabicPeriod" startAt="9"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Mitsubishi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endParaRPr lang="en-US" kern="100" dirty="0"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  <a:p>
            <a:endParaRPr lang="en-US" dirty="0"/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CE332CF3-A0CC-38E6-0794-BA3548BAAE47}"/>
              </a:ext>
            </a:extLst>
          </p:cNvPr>
          <p:cNvCxnSpPr>
            <a:cxnSpLocks/>
            <a:stCxn id="7" idx="3"/>
            <a:endCxn id="12" idx="0"/>
          </p:cNvCxnSpPr>
          <p:nvPr/>
        </p:nvCxnSpPr>
        <p:spPr>
          <a:xfrm>
            <a:off x="8468139" y="540226"/>
            <a:ext cx="1550505" cy="2699931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48F2B26-2E49-E264-E816-325A76C75CEE}"/>
              </a:ext>
            </a:extLst>
          </p:cNvPr>
          <p:cNvSpPr txBox="1"/>
          <p:nvPr/>
        </p:nvSpPr>
        <p:spPr>
          <a:xfrm>
            <a:off x="8309113" y="3240157"/>
            <a:ext cx="3419061" cy="2554545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It should be appeared before Home and all the brands in Drop Down under Serviceable Brand.</a:t>
            </a:r>
          </a:p>
          <a:p>
            <a:endParaRPr lang="en-US" sz="2000" dirty="0"/>
          </a:p>
          <a:p>
            <a:r>
              <a:rPr lang="en-US" sz="2000" dirty="0"/>
              <a:t>You can suggest any suitable word also for “Serviceable brand”</a:t>
            </a:r>
          </a:p>
        </p:txBody>
      </p:sp>
    </p:spTree>
    <p:extLst>
      <p:ext uri="{BB962C8B-B14F-4D97-AF65-F5344CB8AC3E}">
        <p14:creationId xmlns:p14="http://schemas.microsoft.com/office/powerpoint/2010/main" val="1357154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6EC8C-4E53-ECCA-465D-B5A2918B8F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7859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Offers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674850-7F54-2ABF-96ED-D1539F2DEE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05878"/>
            <a:ext cx="9144000" cy="2902225"/>
          </a:xfrm>
        </p:spPr>
        <p:txBody>
          <a:bodyPr>
            <a:normAutofit lnSpcReduction="10000"/>
          </a:bodyPr>
          <a:lstStyle/>
          <a:p>
            <a:pPr marL="514350" indent="-514350" algn="l">
              <a:buAutoNum type="arabicPeriod"/>
            </a:pPr>
            <a:r>
              <a:rPr lang="en-US" sz="2800" dirty="0">
                <a:highlight>
                  <a:srgbClr val="FFFF00"/>
                </a:highlight>
              </a:rPr>
              <a:t>We can introduce our printed card under offer. I have already shared you the card previously. </a:t>
            </a:r>
          </a:p>
          <a:p>
            <a:pPr marL="514350" indent="-514350" algn="just">
              <a:buAutoNum type="arabicPeriod"/>
            </a:pPr>
            <a:r>
              <a:rPr lang="en-US" sz="2800" dirty="0">
                <a:highlight>
                  <a:srgbClr val="FFFF00"/>
                </a:highlight>
              </a:rPr>
              <a:t>Road Assistance for break down to any customer within a range of 25 km from our workshop. Workshop Location in google map with address to be delivered to customer who wants to avail the road side assistance. </a:t>
            </a:r>
          </a:p>
          <a:p>
            <a:pPr algn="l"/>
            <a:r>
              <a:rPr lang="en-US" sz="2800" dirty="0"/>
              <a:t>      *</a:t>
            </a:r>
            <a:r>
              <a:rPr lang="en-US" sz="2000" dirty="0">
                <a:solidFill>
                  <a:srgbClr val="FF0000"/>
                </a:solidFill>
              </a:rPr>
              <a:t>Terms &amp; Conditions are applicable. (We will provide details)</a:t>
            </a:r>
          </a:p>
          <a:p>
            <a:pPr marL="514350" indent="-514350" algn="l">
              <a:buAutoNum type="arabicPeriod"/>
            </a:pPr>
            <a:endParaRPr lang="en-US" sz="28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129865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756F3-D808-BC09-46A3-B289D3095D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4735"/>
            <a:ext cx="9144000" cy="359764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Terms &amp; Conditions are applicable. 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7D2964-4D48-07EA-4AA5-6CB6F9DC89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828858"/>
            <a:ext cx="9144000" cy="5227168"/>
          </a:xfrm>
        </p:spPr>
        <p:txBody>
          <a:bodyPr>
            <a:normAutofit/>
          </a:bodyPr>
          <a:lstStyle/>
          <a:p>
            <a:pPr marL="342900" indent="-342900" algn="l">
              <a:buAutoNum type="arabicPeriod"/>
            </a:pPr>
            <a:r>
              <a:rPr lang="en-US" sz="1400" dirty="0"/>
              <a:t>Road Service Assistance – Working Hours – 9:00 am to 9 pm </a:t>
            </a:r>
          </a:p>
          <a:p>
            <a:pPr marL="342900" indent="-342900" algn="l">
              <a:buAutoNum type="arabicPeriod"/>
            </a:pPr>
            <a:r>
              <a:rPr lang="en-US" sz="1400" dirty="0"/>
              <a:t>Emergency Service – between 9 pm to 9 am (contact no.                   ) </a:t>
            </a:r>
          </a:p>
          <a:p>
            <a:pPr marL="342900" indent="-342900" algn="l">
              <a:buAutoNum type="arabicPeriod"/>
            </a:pPr>
            <a:r>
              <a:rPr lang="en-US" sz="1400" dirty="0"/>
              <a:t>Service Charge – Rs. 500 for range of 5 km</a:t>
            </a:r>
          </a:p>
          <a:p>
            <a:pPr algn="l"/>
            <a:r>
              <a:rPr lang="en-US" sz="1400" dirty="0"/>
              <a:t>                                              Rs. 700 for range of 7 km</a:t>
            </a:r>
          </a:p>
          <a:p>
            <a:pPr algn="l"/>
            <a:r>
              <a:rPr lang="en-US" sz="1400" dirty="0"/>
              <a:t>                                              Rs. 1000 for 15 km </a:t>
            </a:r>
          </a:p>
          <a:p>
            <a:pPr algn="l"/>
            <a:r>
              <a:rPr lang="en-US" sz="1400" dirty="0"/>
              <a:t>                                              Rs. 1500 for 25 km</a:t>
            </a:r>
          </a:p>
          <a:p>
            <a:pPr marL="342900" indent="-342900" algn="l">
              <a:buAutoNum type="arabicPeriod" startAt="3"/>
            </a:pPr>
            <a:r>
              <a:rPr lang="en-US" sz="1400" dirty="0"/>
              <a:t>Technician will start after successful completion of booking formality and will reach as fast as per distance.</a:t>
            </a:r>
          </a:p>
          <a:p>
            <a:pPr marL="342900" indent="-342900" algn="l">
              <a:buAutoNum type="arabicPeriod" startAt="3"/>
            </a:pPr>
            <a:r>
              <a:rPr lang="en-US" sz="1400" dirty="0"/>
              <a:t>Minor break down cover – Battery Jump Start, Flattened </a:t>
            </a:r>
            <a:r>
              <a:rPr lang="en-US" sz="1400" dirty="0" err="1"/>
              <a:t>tyre</a:t>
            </a:r>
            <a:r>
              <a:rPr lang="en-US" sz="1400" dirty="0"/>
              <a:t> replacement, fuel supply  max Rs. 500/- (Extra), minor electrical &amp; mechanical problem as per standard tools &amp; tackles available for break down.</a:t>
            </a:r>
          </a:p>
          <a:p>
            <a:pPr marL="342900" indent="-342900" algn="l">
              <a:buAutoNum type="arabicPeriod" startAt="3"/>
            </a:pPr>
            <a:r>
              <a:rPr lang="en-US" sz="1400" dirty="0"/>
              <a:t>Major break down cover – Towing of Vehicle (charges extra) </a:t>
            </a:r>
            <a:r>
              <a:rPr lang="en-US" sz="1400" dirty="0" err="1"/>
              <a:t>upto</a:t>
            </a:r>
            <a:r>
              <a:rPr lang="en-US" sz="1400" dirty="0"/>
              <a:t> workshop. Arrange to drop passenger by private car to destination (charges extra). </a:t>
            </a:r>
          </a:p>
          <a:p>
            <a:pPr marL="342900" indent="-342900" algn="l">
              <a:buAutoNum type="arabicPeriod" startAt="3"/>
            </a:pPr>
            <a:r>
              <a:rPr lang="en-US" sz="1400" dirty="0"/>
              <a:t>Estimate will be provided to customer free of cost and all Service charge will be removed from final bill if work done by us.</a:t>
            </a:r>
          </a:p>
          <a:p>
            <a:pPr marL="342900" indent="-342900" algn="l">
              <a:buAutoNum type="arabicPeriod" startAt="3"/>
            </a:pPr>
            <a:r>
              <a:rPr lang="en-US" sz="1400" dirty="0"/>
              <a:t>Discount on </a:t>
            </a:r>
            <a:r>
              <a:rPr lang="en-US" sz="1400" dirty="0" err="1"/>
              <a:t>Labour</a:t>
            </a:r>
            <a:r>
              <a:rPr lang="en-US" sz="1400" dirty="0"/>
              <a:t> Charge if enrolled for our Service Card.</a:t>
            </a:r>
          </a:p>
          <a:p>
            <a:pPr marL="342900" indent="-342900" algn="l">
              <a:buAutoNum type="arabicPeriod" startAt="3"/>
            </a:pPr>
            <a:r>
              <a:rPr lang="en-US" sz="1400" dirty="0"/>
              <a:t>References will attract one extra value-added service on next visit within listed option.</a:t>
            </a:r>
          </a:p>
        </p:txBody>
      </p:sp>
    </p:spTree>
    <p:extLst>
      <p:ext uri="{BB962C8B-B14F-4D97-AF65-F5344CB8AC3E}">
        <p14:creationId xmlns:p14="http://schemas.microsoft.com/office/powerpoint/2010/main" val="490262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327</Words>
  <Application>Microsoft Office PowerPoint</Application>
  <PresentationFormat>Widescreen</PresentationFormat>
  <Paragraphs>41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 Theme</vt:lpstr>
      <vt:lpstr>PowerPoint Presentation</vt:lpstr>
      <vt:lpstr>Offers</vt:lpstr>
      <vt:lpstr>Terms &amp; Conditions are applicable.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Sushmita Mukherjee</cp:lastModifiedBy>
  <cp:revision>3</cp:revision>
  <dcterms:created xsi:type="dcterms:W3CDTF">2025-05-29T09:49:13Z</dcterms:created>
  <dcterms:modified xsi:type="dcterms:W3CDTF">2025-07-18T06:13:29Z</dcterms:modified>
</cp:coreProperties>
</file>